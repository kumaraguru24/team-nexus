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4300685-9DEC-481E-85FF-24AC6C0F9482}">
          <p14:sldIdLst>
            <p14:sldId id="256"/>
          </p14:sldIdLst>
        </p14:section>
        <p14:section name="Untitled Section" id="{595F4567-0E2B-465D-99C2-1215CABE4F02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hyperlink" Target="https://mohua.gov.in/" TargetMode="External"/><Relationship Id="rId7" Type="http://schemas.openxmlformats.org/officeDocument/2006/relationships/hyperlink" Target="https://www.semtech.com/" TargetMode="External"/><Relationship Id="rId6" Type="http://schemas.openxmlformats.org/officeDocument/2006/relationships/hyperlink" Target="https://www.u-blox.com/" TargetMode="External"/><Relationship Id="rId5" Type="http://schemas.openxmlformats.org/officeDocument/2006/relationships/hyperlink" Target="https://docs.espressif.com/" TargetMode="External"/><Relationship Id="rId4" Type="http://schemas.openxmlformats.org/officeDocument/2006/relationships/hyperlink" Target="https://developers.google.com/maps" TargetMode="External"/><Relationship Id="rId3" Type="http://schemas.openxmlformats.org/officeDocument/2006/relationships/hyperlink" Target="https://docs.flutter.dev/" TargetMode="External"/><Relationship Id="rId2" Type="http://schemas.openxmlformats.org/officeDocument/2006/relationships/hyperlink" Target="https://www.trai.gov.in/" TargetMode="External"/><Relationship Id="rId1" Type="http://schemas.openxmlformats.org/officeDocument/2006/relationships/hyperlink" Target="https://morth.nic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over_bg.png"/>
          <p:cNvPicPr>
            <a:picLocks noChangeAspect="1"/>
          </p:cNvPicPr>
          <p:nvPr/>
        </p:nvPicPr>
        <p:blipFill>
          <a:blip r:embed="rId1"/>
          <a:srcRect l="62722"/>
          <a:stretch>
            <a:fillRect/>
          </a:stretch>
        </p:blipFill>
        <p:spPr>
          <a:xfrm>
            <a:off x="8180438" y="0"/>
            <a:ext cx="4544961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1298448"/>
            <a:ext cx="1115568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8916874" cy="566928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3400" b="1">
                <a:solidFill>
                  <a:srgbClr val="174A85"/>
                </a:solidFill>
                <a:latin typeface="Aptos"/>
              </a:defRPr>
            </a:pPr>
            <a:r>
              <a:rPr lang="en-IN" dirty="0"/>
              <a:t>TEAM NEXUS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2075688"/>
            <a:ext cx="10332720" cy="41148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2000" b="1">
                <a:solidFill>
                  <a:srgbClr val="00708C"/>
                </a:solidFill>
                <a:latin typeface="Aptos"/>
              </a:defRPr>
            </a:pPr>
            <a:r>
              <a:rPr dirty="0"/>
              <a:t>SMART EMERGENCY GREEN CORRIDOR SYSTEM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60120" y="2697480"/>
            <a:ext cx="10195560" cy="59436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1400" b="0">
                <a:solidFill>
                  <a:srgbClr val="26323F"/>
                </a:solidFill>
                <a:latin typeface="Aptos"/>
              </a:defRPr>
            </a:pPr>
            <a:r>
              <a:rPr dirty="0"/>
              <a:t>Hack for Social Cause – 2027</a:t>
            </a:r>
            <a:endParaRPr dirty="0"/>
          </a:p>
          <a:p>
            <a:pPr algn="l">
              <a:defRPr sz="1400" b="0">
                <a:solidFill>
                  <a:srgbClr val="26323F"/>
                </a:solidFill>
                <a:latin typeface="Aptos"/>
              </a:defRPr>
            </a:pPr>
            <a:r>
              <a:rPr dirty="0"/>
              <a:t>Theme: Smart Transportation, Intelligent Traffic Management &amp; Emergency Healthcare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60120" y="3566160"/>
            <a:ext cx="10195560" cy="91440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1700" b="0">
                <a:solidFill>
                  <a:srgbClr val="26323F"/>
                </a:solidFill>
                <a:latin typeface="Aptos"/>
              </a:defRPr>
            </a:pPr>
            <a:r>
              <a:t>TEAM NEXUS</a:t>
            </a:r>
          </a:p>
          <a:p>
            <a:pPr algn="l">
              <a:defRPr sz="1700" b="0">
                <a:solidFill>
                  <a:srgbClr val="26323F"/>
                </a:solidFill>
                <a:latin typeface="Aptos"/>
              </a:defRPr>
            </a:pPr>
            <a:r>
              <a:t>Team Leader: KUMARAGURU M</a:t>
            </a:r>
          </a:p>
          <a:p>
            <a:pPr algn="l">
              <a:defRPr sz="1700" b="0">
                <a:solidFill>
                  <a:srgbClr val="26323F"/>
                </a:solidFill>
                <a:latin typeface="Aptos"/>
              </a:defRPr>
            </a:pPr>
            <a:r>
              <a:t>Members: ADIDEV M  |  GOKUL RAJ 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800600"/>
            <a:ext cx="10195560" cy="227755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300" b="0">
                <a:solidFill>
                  <a:srgbClr val="626D78"/>
                </a:solidFill>
                <a:latin typeface="Aptos"/>
              </a:defRPr>
            </a:pPr>
            <a:r>
              <a:rPr dirty="0"/>
              <a:t>Tamil Nadu  |  Team ID:</a:t>
            </a:r>
            <a:r>
              <a:rPr lang="en-IN" dirty="0"/>
              <a:t> </a:t>
            </a:r>
            <a:r>
              <a:rPr lang="en-IN" sz="1300" dirty="0">
                <a:solidFill>
                  <a:srgbClr val="626D78"/>
                </a:solidFill>
                <a:latin typeface="Aptos"/>
              </a:rPr>
              <a:t>HSC|TN|02460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329872" y="321106"/>
            <a:ext cx="1143000" cy="520142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1000" b="1">
                <a:solidFill>
                  <a:srgbClr val="26323F"/>
                </a:solidFill>
                <a:latin typeface="Aptos"/>
              </a:defRPr>
            </a:pPr>
            <a:r>
              <a:rPr sz="1600" dirty="0"/>
              <a:t>TEAM</a:t>
            </a:r>
            <a:endParaRPr sz="1600" dirty="0"/>
          </a:p>
          <a:p>
            <a:pPr algn="l">
              <a:defRPr sz="1000" b="1">
                <a:solidFill>
                  <a:srgbClr val="26323F"/>
                </a:solidFill>
                <a:latin typeface="Aptos"/>
              </a:defRPr>
            </a:pPr>
            <a:r>
              <a:rPr sz="1600" dirty="0"/>
              <a:t>NEXUS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06245" y="314647"/>
            <a:ext cx="9784080" cy="397032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ctr">
              <a:defRPr sz="2400" b="1">
                <a:solidFill>
                  <a:srgbClr val="174A85"/>
                </a:solidFill>
                <a:latin typeface="Aptos"/>
              </a:defRPr>
            </a:pPr>
            <a:r>
              <a:rPr lang="en-IN" dirty="0"/>
              <a:t>PROBLEM – PROPOSED SOLUTION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11475720" cy="32004"/>
          </a:xfrm>
          <a:prstGeom prst="rect">
            <a:avLst/>
          </a:prstGeom>
          <a:solidFill>
            <a:srgbClr val="174A85"/>
          </a:solidFill>
          <a:ln>
            <a:solidFill>
              <a:srgbClr val="174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24828"/>
            <a:ext cx="7315200" cy="18288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800" b="0">
                <a:solidFill>
                  <a:srgbClr val="626D78"/>
                </a:solidFill>
                <a:latin typeface="Aptos"/>
              </a:defRPr>
            </a:pPr>
            <a:r>
              <a:rPr dirty="0"/>
              <a:t>@HSC submission – Template  |  HYDRIX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22860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ctr">
              <a:defRPr sz="900" b="0">
                <a:solidFill>
                  <a:srgbClr val="626D7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982980"/>
            <a:ext cx="5623560" cy="5427651"/>
          </a:xfrm>
          <a:prstGeom prst="roundRect">
            <a:avLst/>
          </a:prstGeom>
          <a:solidFill>
            <a:srgbClr val="F7F9FB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0" y="982981"/>
            <a:ext cx="5775960" cy="5427650"/>
          </a:xfrm>
          <a:prstGeom prst="roundRect">
            <a:avLst/>
          </a:prstGeom>
          <a:solidFill>
            <a:srgbClr val="F7F9FB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63675" y="1033271"/>
            <a:ext cx="4937760" cy="32004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600" b="1">
                <a:solidFill>
                  <a:srgbClr val="EB6B25"/>
                </a:solidFill>
                <a:latin typeface="Aptos"/>
              </a:defRPr>
            </a:pPr>
            <a:r>
              <a:rPr dirty="0"/>
              <a:t>THE PROBLEM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18160" y="1309465"/>
            <a:ext cx="5425440" cy="4829014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300" b="0">
                <a:solidFill>
                  <a:srgbClr val="26323F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300" b="1" dirty="0">
                <a:solidFill>
                  <a:srgbClr val="26323F"/>
                </a:solidFill>
                <a:latin typeface="Aptos"/>
              </a:rPr>
              <a:t>Severe Golden Hour Delays:</a:t>
            </a:r>
            <a:r>
              <a:rPr lang="en-IN" sz="1300" dirty="0">
                <a:solidFill>
                  <a:srgbClr val="26323F"/>
                </a:solidFill>
                <a:latin typeface="Aptos"/>
              </a:rPr>
              <a:t> Ambulances lose critical life-saving minutes trapped in dense urban traffic, mid-lane queues, and uncoordinated red signals. </a:t>
            </a:r>
            <a:br>
              <a:rPr lang="en-IN" sz="1300" dirty="0">
                <a:solidFill>
                  <a:srgbClr val="26323F"/>
                </a:solidFill>
                <a:latin typeface="Aptos"/>
              </a:rPr>
            </a:br>
            <a:br>
              <a:rPr lang="en-IN" sz="1300" dirty="0">
                <a:solidFill>
                  <a:srgbClr val="26323F"/>
                </a:solidFill>
                <a:latin typeface="Aptos"/>
              </a:rPr>
            </a:br>
            <a:r>
              <a:rPr dirty="0"/>
              <a:t>• </a:t>
            </a:r>
            <a:r>
              <a:rPr lang="en-IN" sz="1300" b="1" dirty="0">
                <a:solidFill>
                  <a:srgbClr val="26323F"/>
                </a:solidFill>
                <a:latin typeface="Aptos"/>
              </a:rPr>
              <a:t>Flaws in Legacy Tech (RFID &amp; AI Cameras):</a:t>
            </a:r>
            <a:r>
              <a:rPr lang="en-IN" sz="1300" dirty="0">
                <a:solidFill>
                  <a:srgbClr val="26323F"/>
                </a:solidFill>
                <a:latin typeface="Aptos"/>
              </a:rPr>
              <a:t> Traditional RFID systems lack cryptographic security and are easily cloned/spoofed, while existing </a:t>
            </a:r>
            <a:r>
              <a:rPr lang="en-IN" sz="1300" b="1" dirty="0">
                <a:solidFill>
                  <a:srgbClr val="26323F"/>
                </a:solidFill>
                <a:latin typeface="Aptos"/>
              </a:rPr>
              <a:t>AI Camera-based systems are prohibitively expensive</a:t>
            </a:r>
            <a:r>
              <a:rPr lang="en-IN" sz="1300" dirty="0">
                <a:solidFill>
                  <a:srgbClr val="26323F"/>
                </a:solidFill>
                <a:latin typeface="Aptos"/>
              </a:rPr>
              <a:t>, suffer from poor visibility/occlusion (blocked by heavy vehicles, rain, or night glare), and only detect ambulances at short line-of-sight distances rather than clearing traffic 1 km in advance. </a:t>
            </a:r>
            <a:br>
              <a:rPr lang="en-IN" sz="1300" dirty="0">
                <a:solidFill>
                  <a:srgbClr val="26323F"/>
                </a:solidFill>
                <a:latin typeface="Aptos"/>
              </a:rPr>
            </a:br>
            <a:br>
              <a:rPr lang="en-IN" sz="1300" dirty="0">
                <a:solidFill>
                  <a:srgbClr val="26323F"/>
                </a:solidFill>
                <a:latin typeface="Aptos"/>
              </a:rPr>
            </a:br>
            <a:r>
              <a:rPr dirty="0"/>
              <a:t>• </a:t>
            </a:r>
            <a:r>
              <a:rPr lang="en-IN" sz="1300" b="1" dirty="0">
                <a:solidFill>
                  <a:srgbClr val="26323F"/>
                </a:solidFill>
                <a:latin typeface="Aptos"/>
              </a:rPr>
              <a:t>Blind Spots &amp; Multi-Ambulance Clashes:</a:t>
            </a:r>
            <a:r>
              <a:rPr lang="en-IN" sz="1300" dirty="0">
                <a:solidFill>
                  <a:srgbClr val="26323F"/>
                </a:solidFill>
                <a:latin typeface="Aptos"/>
              </a:rPr>
              <a:t> No signal intersections lack automated traffic clearance, and simultaneous approaches by multiple ambulances at a single junction create gridlock.</a:t>
            </a:r>
            <a:br>
              <a:rPr lang="en-IN" sz="1300" dirty="0">
                <a:solidFill>
                  <a:srgbClr val="26323F"/>
                </a:solidFill>
                <a:latin typeface="Aptos"/>
              </a:rPr>
            </a:br>
            <a:br>
              <a:rPr lang="en-IN" sz="1300" dirty="0">
                <a:solidFill>
                  <a:srgbClr val="26323F"/>
                </a:solidFill>
                <a:latin typeface="Aptos"/>
              </a:rPr>
            </a:br>
            <a:r>
              <a:rPr lang="en-IN" dirty="0"/>
              <a:t>• </a:t>
            </a:r>
            <a:r>
              <a:rPr lang="en-IN" sz="1300" b="1" dirty="0">
                <a:solidFill>
                  <a:srgbClr val="26323F"/>
                </a:solidFill>
                <a:latin typeface="Aptos"/>
              </a:rPr>
              <a:t>Hospital Unpreparedness:</a:t>
            </a:r>
            <a:r>
              <a:rPr lang="en-IN" sz="1300" dirty="0">
                <a:solidFill>
                  <a:srgbClr val="26323F"/>
                </a:solidFill>
                <a:latin typeface="Aptos"/>
              </a:rPr>
              <a:t> Destination hospitals receive minimal advance notice regarding incoming patient severity, delaying emergency room (ER) mobilization.</a:t>
            </a:r>
            <a:br>
              <a:rPr lang="en-IN" sz="1300" dirty="0">
                <a:solidFill>
                  <a:srgbClr val="26323F"/>
                </a:solidFill>
                <a:latin typeface="Aptos"/>
              </a:rPr>
            </a:br>
            <a:br>
              <a:rPr lang="en-IN" sz="1300" dirty="0">
                <a:solidFill>
                  <a:srgbClr val="26323F"/>
                </a:solidFill>
                <a:latin typeface="Aptos"/>
              </a:rPr>
            </a:br>
            <a:r>
              <a:rPr lang="en-IN" dirty="0"/>
              <a:t>•</a:t>
            </a:r>
            <a:r>
              <a:rPr lang="en-IN" sz="1300" b="1" dirty="0">
                <a:solidFill>
                  <a:srgbClr val="26323F"/>
                </a:solidFill>
                <a:latin typeface="Aptos"/>
              </a:rPr>
              <a:t> The "Unidentified Victim" Crisis:</a:t>
            </a:r>
            <a:r>
              <a:rPr lang="en-IN" sz="1300" dirty="0">
                <a:solidFill>
                  <a:srgbClr val="26323F"/>
                </a:solidFill>
                <a:latin typeface="Aptos"/>
              </a:rPr>
              <a:t> Unconscious accident victims (especially elderly individuals, migrants, or solo commuters) without physical IDs or with biometric-locked smartphones (where Face ID/Fingerprint fail due to closed eyes or weak pulse) cannot be identified—stalling family notification, medical consent, and critical care decisions.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121445" y="1033271"/>
            <a:ext cx="4937760" cy="32004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600" b="1">
                <a:solidFill>
                  <a:srgbClr val="00708C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3987" y="1353311"/>
            <a:ext cx="5581773" cy="462896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300" b="0">
                <a:solidFill>
                  <a:srgbClr val="26323F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300" b="1" dirty="0">
                <a:solidFill>
                  <a:srgbClr val="26323F"/>
                </a:solidFill>
                <a:latin typeface="Aptos"/>
              </a:rPr>
              <a:t>3-Tier Role-Based Ecosystem:</a:t>
            </a:r>
            <a:r>
              <a:rPr lang="en-IN" sz="1300" dirty="0">
                <a:solidFill>
                  <a:srgbClr val="26323F"/>
                </a:solidFill>
                <a:latin typeface="Aptos"/>
              </a:rPr>
              <a:t> Dedicated, secure portals for </a:t>
            </a:r>
            <a:r>
              <a:rPr lang="en-IN" sz="1300" b="1" dirty="0">
                <a:solidFill>
                  <a:srgbClr val="26323F"/>
                </a:solidFill>
                <a:latin typeface="Aptos"/>
              </a:rPr>
              <a:t>Government Command</a:t>
            </a:r>
            <a:r>
              <a:rPr lang="en-IN" sz="1300" dirty="0">
                <a:solidFill>
                  <a:srgbClr val="26323F"/>
                </a:solidFill>
                <a:latin typeface="Aptos"/>
              </a:rPr>
              <a:t> (city-wide tracking &amp; signal override), </a:t>
            </a:r>
            <a:r>
              <a:rPr lang="en-IN" sz="1300" b="1" dirty="0">
                <a:solidFill>
                  <a:srgbClr val="26323F"/>
                </a:solidFill>
                <a:latin typeface="Aptos"/>
              </a:rPr>
              <a:t>Hospitals</a:t>
            </a:r>
            <a:r>
              <a:rPr lang="en-IN" sz="1300" dirty="0">
                <a:solidFill>
                  <a:srgbClr val="26323F"/>
                </a:solidFill>
                <a:latin typeface="Aptos"/>
              </a:rPr>
              <a:t> (approaching ambulance alerts &amp; patient vitals), and </a:t>
            </a:r>
            <a:r>
              <a:rPr lang="en-IN" sz="1300" b="1" dirty="0">
                <a:solidFill>
                  <a:srgbClr val="26323F"/>
                </a:solidFill>
                <a:latin typeface="Aptos"/>
              </a:rPr>
              <a:t>Ambulance Drivers</a:t>
            </a:r>
            <a:r>
              <a:rPr lang="en-IN" sz="1300" dirty="0">
                <a:solidFill>
                  <a:srgbClr val="26323F"/>
                </a:solidFill>
                <a:latin typeface="Aptos"/>
              </a:rPr>
              <a:t> (live congestion routing &amp; hospital selection). </a:t>
            </a:r>
            <a:br>
              <a:rPr lang="en-IN" sz="1300" dirty="0">
                <a:solidFill>
                  <a:srgbClr val="26323F"/>
                </a:solidFill>
                <a:latin typeface="Aptos"/>
              </a:rPr>
            </a:br>
            <a:br>
              <a:rPr lang="en-IN" sz="1300" dirty="0">
                <a:solidFill>
                  <a:srgbClr val="26323F"/>
                </a:solidFill>
                <a:latin typeface="Aptos"/>
              </a:rPr>
            </a:br>
            <a:r>
              <a:rPr dirty="0"/>
              <a:t>• </a:t>
            </a:r>
            <a:r>
              <a:rPr lang="en-IN" sz="1300" b="1" dirty="0">
                <a:solidFill>
                  <a:srgbClr val="26323F"/>
                </a:solidFill>
                <a:latin typeface="Aptos"/>
              </a:rPr>
              <a:t>1 km Predictive Green Corridor:</a:t>
            </a:r>
            <a:r>
              <a:rPr lang="en-IN" sz="1300" dirty="0">
                <a:solidFill>
                  <a:srgbClr val="26323F"/>
                </a:solidFill>
                <a:latin typeface="Aptos"/>
              </a:rPr>
              <a:t> Combines onboard GPS tracking with ML-based route and congestion prediction to automatically trigger green signals </a:t>
            </a:r>
            <a:r>
              <a:rPr lang="en-IN" sz="1300" b="1" dirty="0">
                <a:solidFill>
                  <a:srgbClr val="26323F"/>
                </a:solidFill>
                <a:latin typeface="Aptos"/>
              </a:rPr>
              <a:t>1 km ahead</a:t>
            </a:r>
            <a:r>
              <a:rPr lang="en-IN" sz="1300" dirty="0">
                <a:solidFill>
                  <a:srgbClr val="26323F"/>
                </a:solidFill>
                <a:latin typeface="Aptos"/>
              </a:rPr>
              <a:t> of the ambulance, restoring normal signal cycles immediately after passage. </a:t>
            </a:r>
            <a:br>
              <a:rPr lang="en-IN" sz="1300" dirty="0">
                <a:solidFill>
                  <a:srgbClr val="26323F"/>
                </a:solidFill>
                <a:latin typeface="Aptos"/>
              </a:rPr>
            </a:br>
            <a:br>
              <a:rPr lang="en-IN" sz="1300" dirty="0">
                <a:solidFill>
                  <a:srgbClr val="26323F"/>
                </a:solidFill>
                <a:latin typeface="Aptos"/>
              </a:rPr>
            </a:br>
            <a:r>
              <a:rPr dirty="0"/>
              <a:t>• </a:t>
            </a:r>
            <a:r>
              <a:rPr lang="en-IN" sz="1300" b="1" dirty="0">
                <a:solidFill>
                  <a:srgbClr val="26323F"/>
                </a:solidFill>
                <a:latin typeface="Aptos"/>
              </a:rPr>
              <a:t>Smart Roadside Beacons &amp; Triage Priority:</a:t>
            </a:r>
            <a:r>
              <a:rPr lang="en-IN" sz="1300" dirty="0">
                <a:solidFill>
                  <a:srgbClr val="26323F"/>
                </a:solidFill>
                <a:latin typeface="Aptos"/>
              </a:rPr>
              <a:t> Deploys LoRa-enabled roadside beacons for un-</a:t>
            </a:r>
            <a:r>
              <a:rPr lang="en-IN" sz="1300" dirty="0" err="1">
                <a:solidFill>
                  <a:srgbClr val="26323F"/>
                </a:solidFill>
                <a:latin typeface="Aptos"/>
              </a:rPr>
              <a:t>signaled</a:t>
            </a:r>
            <a:r>
              <a:rPr lang="en-IN" sz="1300" dirty="0">
                <a:solidFill>
                  <a:srgbClr val="26323F"/>
                </a:solidFill>
                <a:latin typeface="Aptos"/>
              </a:rPr>
              <a:t> zones and uses an automated </a:t>
            </a:r>
            <a:r>
              <a:rPr lang="en-IN" sz="1300" b="1" dirty="0">
                <a:solidFill>
                  <a:srgbClr val="26323F"/>
                </a:solidFill>
                <a:latin typeface="Aptos"/>
              </a:rPr>
              <a:t>Triage Priority Algorithm (Red/Yellow/Green severity)</a:t>
            </a:r>
            <a:r>
              <a:rPr lang="en-IN" sz="1300" dirty="0">
                <a:solidFill>
                  <a:srgbClr val="26323F"/>
                </a:solidFill>
                <a:latin typeface="Aptos"/>
              </a:rPr>
              <a:t> to resolve multi-ambulance junction conflicts.</a:t>
            </a:r>
            <a:br>
              <a:rPr lang="en-IN" sz="1300" dirty="0">
                <a:solidFill>
                  <a:srgbClr val="26323F"/>
                </a:solidFill>
                <a:latin typeface="Aptos"/>
              </a:rPr>
            </a:br>
            <a:br>
              <a:rPr lang="en-IN" sz="1300" dirty="0">
                <a:solidFill>
                  <a:srgbClr val="26323F"/>
                </a:solidFill>
                <a:latin typeface="Aptos"/>
              </a:rPr>
            </a:br>
            <a:r>
              <a:rPr lang="en-IN" dirty="0"/>
              <a:t>• </a:t>
            </a:r>
            <a:r>
              <a:rPr lang="en-IN" sz="1300" b="1" dirty="0">
                <a:solidFill>
                  <a:srgbClr val="26323F"/>
                </a:solidFill>
                <a:latin typeface="Aptos"/>
              </a:rPr>
              <a:t>Dynamic Hospital Routing &amp; Pre-Arrival Sync:</a:t>
            </a:r>
            <a:r>
              <a:rPr lang="en-IN" sz="1300" dirty="0">
                <a:solidFill>
                  <a:srgbClr val="26323F"/>
                </a:solidFill>
                <a:latin typeface="Aptos"/>
              </a:rPr>
              <a:t> Recommends the fastest nearby hospital (with options for family-preferred overrides) and transmits prior arrival alerts to prepare trauma teams in advance.</a:t>
            </a:r>
            <a:br>
              <a:rPr lang="en-IN" sz="1300" dirty="0">
                <a:solidFill>
                  <a:srgbClr val="26323F"/>
                </a:solidFill>
                <a:latin typeface="Aptos"/>
              </a:rPr>
            </a:br>
            <a:br>
              <a:rPr lang="en-IN" sz="1300" dirty="0">
                <a:solidFill>
                  <a:srgbClr val="26323F"/>
                </a:solidFill>
                <a:latin typeface="Aptos"/>
              </a:rPr>
            </a:br>
            <a:r>
              <a:rPr lang="en-IN" dirty="0"/>
              <a:t>• </a:t>
            </a:r>
            <a:r>
              <a:rPr lang="en-IN" sz="1300" b="1" dirty="0">
                <a:solidFill>
                  <a:srgbClr val="26323F"/>
                </a:solidFill>
                <a:latin typeface="Aptos"/>
              </a:rPr>
              <a:t>108 Emergency Reverse-Tracing:</a:t>
            </a:r>
            <a:r>
              <a:rPr lang="en-IN" sz="1300" dirty="0">
                <a:solidFill>
                  <a:srgbClr val="26323F"/>
                </a:solidFill>
                <a:latin typeface="Aptos"/>
              </a:rPr>
              <a:t> Utilizes authorized telecom/government API integration to trace incoming emergency calls from locked devices, identifying unconscious victims and automatically notifying linked family members or frequent contacts via recent call logs.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329872" y="321106"/>
            <a:ext cx="1143000" cy="520142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1000" b="1">
                <a:solidFill>
                  <a:srgbClr val="26323F"/>
                </a:solidFill>
                <a:latin typeface="Aptos"/>
              </a:defRPr>
            </a:pPr>
            <a:r>
              <a:rPr sz="1600" dirty="0"/>
              <a:t>TEAM</a:t>
            </a:r>
            <a:endParaRPr sz="1600" dirty="0"/>
          </a:p>
          <a:p>
            <a:pPr algn="l">
              <a:defRPr sz="1000" b="1">
                <a:solidFill>
                  <a:srgbClr val="26323F"/>
                </a:solidFill>
                <a:latin typeface="Aptos"/>
              </a:defRPr>
            </a:pPr>
            <a:r>
              <a:rPr sz="1600" dirty="0"/>
              <a:t>NEXUS</a:t>
            </a: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0040" y="841248"/>
            <a:ext cx="11475720" cy="32004"/>
          </a:xfrm>
          <a:prstGeom prst="rect">
            <a:avLst/>
          </a:prstGeom>
          <a:solidFill>
            <a:srgbClr val="174A85"/>
          </a:solidFill>
          <a:ln>
            <a:solidFill>
              <a:srgbClr val="174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7315200" cy="18288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800" b="0">
                <a:solidFill>
                  <a:srgbClr val="626D78"/>
                </a:solidFill>
                <a:latin typeface="Aptos"/>
              </a:defRPr>
            </a:pPr>
            <a:r>
              <a:t>@HSC submission – Template  |  HYDRIX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22860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ctr">
              <a:defRPr sz="900" b="0">
                <a:solidFill>
                  <a:srgbClr val="626D7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56" y="1307099"/>
            <a:ext cx="10972800" cy="32004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600" b="1">
                <a:solidFill>
                  <a:srgbClr val="EB6B25"/>
                </a:solidFill>
                <a:latin typeface="Aptos"/>
              </a:defRPr>
            </a:pPr>
            <a:r>
              <a:t>TECH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556" y="1686925"/>
            <a:ext cx="11375135" cy="1428083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300" b="0">
                <a:solidFill>
                  <a:srgbClr val="26323F"/>
                </a:solidFill>
                <a:latin typeface="Aptos"/>
              </a:defRPr>
            </a:pPr>
            <a:r>
              <a:rPr lang="en-IN" sz="1300" b="1" dirty="0">
                <a:solidFill>
                  <a:srgbClr val="26323F"/>
                </a:solidFill>
                <a:latin typeface="Aptos"/>
              </a:rPr>
              <a:t>Hardware &amp; Edge:</a:t>
            </a:r>
            <a:r>
              <a:rPr lang="en-IN" sz="1300" dirty="0">
                <a:solidFill>
                  <a:srgbClr val="26323F"/>
                </a:solidFill>
                <a:latin typeface="Aptos"/>
              </a:rPr>
              <a:t> ESP32 Microcontroller, NEO-6M GPS Module, SX1276 LoRa Transceiver (for zero-cellular P2P signal pre-emption and roadside beacons). </a:t>
            </a:r>
            <a:br>
              <a:rPr lang="en-IN" sz="1300" dirty="0">
                <a:solidFill>
                  <a:srgbClr val="26323F"/>
                </a:solidFill>
                <a:latin typeface="Aptos"/>
              </a:rPr>
            </a:br>
            <a:r>
              <a:rPr lang="en-IN" sz="1300" b="1" dirty="0">
                <a:solidFill>
                  <a:srgbClr val="26323F"/>
                </a:solidFill>
                <a:latin typeface="Aptos"/>
              </a:rPr>
              <a:t>Application &amp; Mapping:</a:t>
            </a:r>
            <a:r>
              <a:rPr lang="en-IN" sz="1300" dirty="0">
                <a:solidFill>
                  <a:srgbClr val="26323F"/>
                </a:solidFill>
                <a:latin typeface="Aptos"/>
              </a:rPr>
              <a:t> Flutter (Cross-platform Role-Based App for Govt, Hospital, and Driver), Google Maps API with ML traffic-congestion routing </a:t>
            </a:r>
            <a:br>
              <a:rPr lang="en-IN" sz="1300" dirty="0">
                <a:solidFill>
                  <a:srgbClr val="26323F"/>
                </a:solidFill>
                <a:latin typeface="Aptos"/>
              </a:rPr>
            </a:br>
            <a:r>
              <a:rPr lang="en-IN" sz="1300" b="1" dirty="0">
                <a:solidFill>
                  <a:srgbClr val="26323F"/>
                </a:solidFill>
                <a:latin typeface="Aptos"/>
              </a:rPr>
              <a:t>Cloud &amp; Communication:</a:t>
            </a:r>
            <a:r>
              <a:rPr lang="en-IN" sz="1300" dirty="0">
                <a:solidFill>
                  <a:srgbClr val="26323F"/>
                </a:solidFill>
                <a:latin typeface="Aptos"/>
              </a:rPr>
              <a:t> Firebase Realtime Database, MQTT Broker for ultra-low-latency (&lt;200 </a:t>
            </a:r>
            <a:r>
              <a:rPr lang="en-IN" sz="1300" dirty="0" err="1">
                <a:solidFill>
                  <a:srgbClr val="26323F"/>
                </a:solidFill>
                <a:latin typeface="Aptos"/>
              </a:rPr>
              <a:t>ms</a:t>
            </a:r>
            <a:r>
              <a:rPr lang="en-IN" sz="1300" dirty="0">
                <a:solidFill>
                  <a:srgbClr val="26323F"/>
                </a:solidFill>
                <a:latin typeface="Aptos"/>
              </a:rPr>
              <a:t>) signal relay, and Authorized Telecom API (for 108 reverse-call tracing).</a:t>
            </a:r>
            <a:br>
              <a:rPr lang="en-IN" sz="1300" dirty="0">
                <a:solidFill>
                  <a:srgbClr val="26323F"/>
                </a:solidFill>
                <a:latin typeface="Aptos"/>
              </a:rPr>
            </a:br>
            <a:r>
              <a:rPr lang="en-IN" sz="1300" b="1" dirty="0">
                <a:solidFill>
                  <a:srgbClr val="26323F"/>
                </a:solidFill>
                <a:latin typeface="Aptos"/>
              </a:rPr>
              <a:t>Vision AI &amp; Triage Engine:</a:t>
            </a:r>
            <a:r>
              <a:rPr lang="en-IN" sz="1300" dirty="0">
                <a:solidFill>
                  <a:srgbClr val="26323F"/>
                </a:solidFill>
                <a:latin typeface="Aptos"/>
              </a:rPr>
              <a:t> Already Roadside CCTV installed places will be integrated with YOLOv8 for real-time vehicle-queue density estimation and automated multi-ambulance conflict resolution.</a:t>
            </a:r>
            <a:br>
              <a:rPr lang="en-IN" sz="1300" dirty="0">
                <a:solidFill>
                  <a:srgbClr val="26323F"/>
                </a:solidFill>
                <a:latin typeface="Aptos"/>
              </a:rPr>
            </a:br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411479" y="4901676"/>
            <a:ext cx="10972800" cy="41148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300" b="1">
                <a:solidFill>
                  <a:srgbClr val="EB6B25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" y="5199723"/>
            <a:ext cx="10972800" cy="766364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00" b="1" dirty="0">
                <a:solidFill>
                  <a:srgbClr val="26323F"/>
                </a:solidFill>
                <a:latin typeface="Aptos"/>
              </a:rPr>
              <a:t>Strict Role-Based Access Control (RBAC):</a:t>
            </a:r>
            <a:r>
              <a:rPr lang="en-IN" sz="1200" dirty="0">
                <a:solidFill>
                  <a:srgbClr val="26323F"/>
                </a:solidFill>
                <a:latin typeface="Aptos"/>
              </a:rPr>
              <a:t> Partitioned privileges ensuring drivers only control active route signals, hospitals only view incoming patient data, and Government retains master oversight. </a:t>
            </a:r>
            <a:br>
              <a:rPr lang="en-IN" sz="1200" dirty="0">
                <a:solidFill>
                  <a:srgbClr val="26323F"/>
                </a:solidFill>
                <a:latin typeface="Aptos"/>
              </a:rPr>
            </a:br>
            <a:r>
              <a:rPr lang="en-IN" dirty="0"/>
              <a:t>• </a:t>
            </a:r>
            <a:r>
              <a:rPr lang="en-IN" sz="1200" b="1" dirty="0">
                <a:solidFill>
                  <a:srgbClr val="26323F"/>
                </a:solidFill>
                <a:latin typeface="Aptos"/>
              </a:rPr>
              <a:t>Anti-Spoofing &amp; Privacy Protection:</a:t>
            </a:r>
            <a:r>
              <a:rPr lang="en-IN" sz="1200" dirty="0">
                <a:solidFill>
                  <a:srgbClr val="26323F"/>
                </a:solidFill>
                <a:latin typeface="Aptos"/>
              </a:rPr>
              <a:t> AES-128 payload encryption, GPS heading/vector verification (preventing parallel-road false triggers), and automated Zero-Knowledge IVR alerts to notify victim families without exposing private call logs.</a:t>
            </a:r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569679" y="6025812"/>
            <a:ext cx="10972800" cy="45720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100" b="0">
                <a:solidFill>
                  <a:srgbClr val="626D78"/>
                </a:solidFill>
                <a:latin typeface="Aptos"/>
              </a:defRPr>
            </a:pPr>
            <a:r>
              <a:rPr dirty="0"/>
              <a:t>AI: YOLOv8 queue detection. Add GitHub and demo-video links when available. Validate latency and reliability through testing.</a:t>
            </a:r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320040" y="321106"/>
            <a:ext cx="1143000" cy="520142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1000" b="1">
                <a:solidFill>
                  <a:srgbClr val="26323F"/>
                </a:solidFill>
                <a:latin typeface="Aptos"/>
              </a:defRPr>
            </a:pPr>
            <a:r>
              <a:rPr sz="1600" dirty="0"/>
              <a:t>TEAM</a:t>
            </a:r>
            <a:endParaRPr sz="1600" dirty="0"/>
          </a:p>
          <a:p>
            <a:pPr algn="l">
              <a:defRPr sz="1000" b="1">
                <a:solidFill>
                  <a:srgbClr val="26323F"/>
                </a:solidFill>
                <a:latin typeface="Aptos"/>
              </a:defRPr>
            </a:pPr>
            <a:r>
              <a:rPr sz="1600" dirty="0"/>
              <a:t>NEXUS</a:t>
            </a:r>
            <a:endParaRPr sz="1600" dirty="0"/>
          </a:p>
        </p:txBody>
      </p:sp>
      <p:sp>
        <p:nvSpPr>
          <p:cNvPr id="124" name="TextBox 123"/>
          <p:cNvSpPr txBox="1"/>
          <p:nvPr/>
        </p:nvSpPr>
        <p:spPr>
          <a:xfrm>
            <a:off x="320040" y="3234141"/>
            <a:ext cx="10972800" cy="32004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600" b="1">
                <a:solidFill>
                  <a:srgbClr val="00708C"/>
                </a:solidFill>
                <a:latin typeface="Aptos"/>
              </a:defRPr>
            </a:pPr>
            <a:r>
              <a:rPr dirty="0"/>
              <a:t>IMPLEMENTATION FLOW</a:t>
            </a:r>
            <a:endParaRPr dirty="0"/>
          </a:p>
        </p:txBody>
      </p:sp>
      <p:sp>
        <p:nvSpPr>
          <p:cNvPr id="126" name="Rounded Rectangle 9"/>
          <p:cNvSpPr/>
          <p:nvPr/>
        </p:nvSpPr>
        <p:spPr>
          <a:xfrm>
            <a:off x="390141" y="3786601"/>
            <a:ext cx="1810512" cy="896112"/>
          </a:xfrm>
          <a:prstGeom prst="roundRect">
            <a:avLst/>
          </a:prstGeom>
          <a:solidFill>
            <a:srgbClr val="EAF2F8"/>
          </a:solidFill>
          <a:ln>
            <a:solidFill>
              <a:srgbClr val="B6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45005" y="3878041"/>
            <a:ext cx="1700784" cy="237744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1000" b="1">
                <a:solidFill>
                  <a:srgbClr val="174A85"/>
                </a:solidFill>
                <a:latin typeface="Aptos"/>
              </a:defRPr>
            </a:pPr>
            <a:r>
              <a:rPr dirty="0"/>
              <a:t>1. VERIFY</a:t>
            </a:r>
            <a:endParaRPr dirty="0"/>
          </a:p>
        </p:txBody>
      </p:sp>
      <p:sp>
        <p:nvSpPr>
          <p:cNvPr id="130" name="TextBox 129"/>
          <p:cNvSpPr txBox="1"/>
          <p:nvPr/>
        </p:nvSpPr>
        <p:spPr>
          <a:xfrm>
            <a:off x="445005" y="4042632"/>
            <a:ext cx="1682495" cy="643253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000" b="0">
                <a:solidFill>
                  <a:srgbClr val="26323F"/>
                </a:solidFill>
                <a:latin typeface="Aptos"/>
              </a:defRPr>
            </a:pPr>
            <a:r>
              <a:rPr lang="en-IN" sz="1000" dirty="0">
                <a:solidFill>
                  <a:srgbClr val="26323F"/>
                </a:solidFill>
                <a:latin typeface="Aptos"/>
              </a:rPr>
              <a:t>Role-based login (Govt / Hospital / Driver) + cryptographically verified Ambulance ID.</a:t>
            </a:r>
            <a:endParaRPr dirty="0"/>
          </a:p>
        </p:txBody>
      </p:sp>
      <p:sp>
        <p:nvSpPr>
          <p:cNvPr id="132" name="TextBox 131"/>
          <p:cNvSpPr txBox="1"/>
          <p:nvPr/>
        </p:nvSpPr>
        <p:spPr>
          <a:xfrm>
            <a:off x="2157685" y="4134073"/>
            <a:ext cx="128016" cy="27432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1200" b="1">
                <a:solidFill>
                  <a:srgbClr val="EB6B25"/>
                </a:solidFill>
                <a:latin typeface="Aptos"/>
              </a:defRPr>
            </a:pPr>
            <a:r>
              <a:rPr dirty="0"/>
              <a:t>→</a:t>
            </a:r>
            <a:endParaRPr dirty="0"/>
          </a:p>
        </p:txBody>
      </p:sp>
      <p:sp>
        <p:nvSpPr>
          <p:cNvPr id="134" name="Rounded Rectangle 13"/>
          <p:cNvSpPr/>
          <p:nvPr/>
        </p:nvSpPr>
        <p:spPr>
          <a:xfrm>
            <a:off x="2328669" y="3786601"/>
            <a:ext cx="1810512" cy="896112"/>
          </a:xfrm>
          <a:prstGeom prst="roundRect">
            <a:avLst/>
          </a:prstGeom>
          <a:solidFill>
            <a:srgbClr val="EAF2F8"/>
          </a:solidFill>
          <a:ln>
            <a:solidFill>
              <a:srgbClr val="B6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383533" y="3878041"/>
            <a:ext cx="1700784" cy="237744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1000" b="1">
                <a:solidFill>
                  <a:srgbClr val="174A85"/>
                </a:solidFill>
                <a:latin typeface="Aptos"/>
              </a:defRPr>
            </a:pPr>
            <a:r>
              <a:t>2. ROUTE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362492" y="4030673"/>
            <a:ext cx="1682495" cy="643253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000" b="0">
                <a:solidFill>
                  <a:srgbClr val="26323F"/>
                </a:solidFill>
                <a:latin typeface="Aptos"/>
              </a:defRPr>
            </a:pPr>
            <a:r>
              <a:rPr lang="en-IN" sz="1000" dirty="0">
                <a:solidFill>
                  <a:srgbClr val="26323F"/>
                </a:solidFill>
                <a:latin typeface="Aptos"/>
              </a:rPr>
              <a:t>ML selects least-congested route &amp; target hospital; paramedic logs patient triage severity.</a:t>
            </a:r>
            <a:endParaRPr dirty="0"/>
          </a:p>
        </p:txBody>
      </p:sp>
      <p:sp>
        <p:nvSpPr>
          <p:cNvPr id="140" name="TextBox 139"/>
          <p:cNvSpPr txBox="1"/>
          <p:nvPr/>
        </p:nvSpPr>
        <p:spPr>
          <a:xfrm>
            <a:off x="4096213" y="4134073"/>
            <a:ext cx="128016" cy="27432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1200" b="1">
                <a:solidFill>
                  <a:srgbClr val="EB6B2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2" name="Rounded Rectangle 17"/>
          <p:cNvSpPr/>
          <p:nvPr/>
        </p:nvSpPr>
        <p:spPr>
          <a:xfrm>
            <a:off x="4267197" y="3786601"/>
            <a:ext cx="1810512" cy="896112"/>
          </a:xfrm>
          <a:prstGeom prst="roundRect">
            <a:avLst/>
          </a:prstGeom>
          <a:solidFill>
            <a:srgbClr val="EAF2F8"/>
          </a:solidFill>
          <a:ln>
            <a:solidFill>
              <a:srgbClr val="B6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322061" y="3878041"/>
            <a:ext cx="1700784" cy="237744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1000" b="1">
                <a:solidFill>
                  <a:srgbClr val="174A85"/>
                </a:solidFill>
                <a:latin typeface="Aptos"/>
              </a:defRPr>
            </a:pPr>
            <a:r>
              <a:t>3. TRACK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294629" y="4042632"/>
            <a:ext cx="1682495" cy="643253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000" b="0">
                <a:solidFill>
                  <a:srgbClr val="26323F"/>
                </a:solidFill>
                <a:latin typeface="Aptos"/>
              </a:defRPr>
            </a:pPr>
            <a:r>
              <a:rPr lang="en-IN" sz="1000" dirty="0">
                <a:solidFill>
                  <a:srgbClr val="26323F"/>
                </a:solidFill>
                <a:latin typeface="Aptos"/>
              </a:rPr>
              <a:t>Live GPS telemetry to cloud + 108 Reverse-Trace triggers automated family alert for unidentified victims</a:t>
            </a:r>
            <a:endParaRPr dirty="0"/>
          </a:p>
        </p:txBody>
      </p:sp>
      <p:sp>
        <p:nvSpPr>
          <p:cNvPr id="148" name="TextBox 147"/>
          <p:cNvSpPr txBox="1"/>
          <p:nvPr/>
        </p:nvSpPr>
        <p:spPr>
          <a:xfrm>
            <a:off x="6034741" y="4134073"/>
            <a:ext cx="128016" cy="27432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1200" b="1">
                <a:solidFill>
                  <a:srgbClr val="EB6B2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0" name="Rounded Rectangle 21"/>
          <p:cNvSpPr/>
          <p:nvPr/>
        </p:nvSpPr>
        <p:spPr>
          <a:xfrm>
            <a:off x="6205725" y="3786601"/>
            <a:ext cx="1810512" cy="896112"/>
          </a:xfrm>
          <a:prstGeom prst="roundRect">
            <a:avLst/>
          </a:prstGeom>
          <a:solidFill>
            <a:srgbClr val="EAF2F8"/>
          </a:solidFill>
          <a:ln>
            <a:solidFill>
              <a:srgbClr val="B6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260589" y="3878041"/>
            <a:ext cx="1700784" cy="237744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1000" b="1">
                <a:solidFill>
                  <a:srgbClr val="174A85"/>
                </a:solidFill>
                <a:latin typeface="Aptos"/>
              </a:defRPr>
            </a:pPr>
            <a:r>
              <a:t>4. PREDICT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19441" y="4042632"/>
            <a:ext cx="1682495" cy="643253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000" b="0">
                <a:solidFill>
                  <a:srgbClr val="26323F"/>
                </a:solidFill>
                <a:latin typeface="Aptos"/>
              </a:defRPr>
            </a:pPr>
            <a:r>
              <a:rPr lang="en-IN" sz="1000" dirty="0">
                <a:solidFill>
                  <a:srgbClr val="26323F"/>
                </a:solidFill>
                <a:latin typeface="Aptos"/>
              </a:rPr>
              <a:t>Geofencing calculates junction ETA &amp; detects queue density 1 km ahead of the ambulance.</a:t>
            </a:r>
            <a:endParaRPr dirty="0"/>
          </a:p>
        </p:txBody>
      </p:sp>
      <p:sp>
        <p:nvSpPr>
          <p:cNvPr id="156" name="TextBox 155"/>
          <p:cNvSpPr txBox="1"/>
          <p:nvPr/>
        </p:nvSpPr>
        <p:spPr>
          <a:xfrm>
            <a:off x="7973269" y="4134073"/>
            <a:ext cx="128016" cy="27432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1200" b="1">
                <a:solidFill>
                  <a:srgbClr val="EB6B25"/>
                </a:solidFill>
                <a:latin typeface="Aptos"/>
              </a:defRPr>
            </a:pPr>
            <a:r>
              <a:rPr dirty="0"/>
              <a:t>→</a:t>
            </a:r>
            <a:endParaRPr dirty="0"/>
          </a:p>
        </p:txBody>
      </p:sp>
      <p:sp>
        <p:nvSpPr>
          <p:cNvPr id="158" name="Rounded Rectangle 25"/>
          <p:cNvSpPr/>
          <p:nvPr/>
        </p:nvSpPr>
        <p:spPr>
          <a:xfrm>
            <a:off x="8144253" y="3786601"/>
            <a:ext cx="1810512" cy="896112"/>
          </a:xfrm>
          <a:prstGeom prst="roundRect">
            <a:avLst/>
          </a:prstGeom>
          <a:solidFill>
            <a:srgbClr val="EAF2F8"/>
          </a:solidFill>
          <a:ln>
            <a:solidFill>
              <a:srgbClr val="B6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199117" y="3878041"/>
            <a:ext cx="1700784" cy="237744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1000" b="1">
                <a:solidFill>
                  <a:srgbClr val="174A85"/>
                </a:solidFill>
                <a:latin typeface="Aptos"/>
              </a:defRPr>
            </a:pPr>
            <a:r>
              <a:t>5. PRIORITIZE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208261" y="4016489"/>
            <a:ext cx="1682495" cy="797141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000" b="0">
                <a:solidFill>
                  <a:srgbClr val="26323F"/>
                </a:solidFill>
                <a:latin typeface="Aptos"/>
              </a:defRPr>
            </a:pPr>
            <a:r>
              <a:rPr lang="en-IN" sz="1000" dirty="0">
                <a:solidFill>
                  <a:srgbClr val="26323F"/>
                </a:solidFill>
                <a:latin typeface="Aptos"/>
              </a:rPr>
              <a:t>Triggers green signal 1 km ahead (or activates roadside beacons); resolves multi-ambulance clashes via triage rank.</a:t>
            </a:r>
            <a:endParaRPr dirty="0"/>
          </a:p>
        </p:txBody>
      </p:sp>
      <p:sp>
        <p:nvSpPr>
          <p:cNvPr id="164" name="TextBox 163"/>
          <p:cNvSpPr txBox="1"/>
          <p:nvPr/>
        </p:nvSpPr>
        <p:spPr>
          <a:xfrm>
            <a:off x="9911797" y="4134073"/>
            <a:ext cx="128016" cy="27432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1200" b="1">
                <a:solidFill>
                  <a:srgbClr val="EB6B25"/>
                </a:solidFill>
                <a:latin typeface="Aptos"/>
              </a:defRPr>
            </a:pPr>
            <a:r>
              <a:rPr dirty="0"/>
              <a:t>→</a:t>
            </a:r>
            <a:endParaRPr dirty="0"/>
          </a:p>
        </p:txBody>
      </p:sp>
      <p:sp>
        <p:nvSpPr>
          <p:cNvPr id="166" name="Rounded Rectangle 29"/>
          <p:cNvSpPr/>
          <p:nvPr/>
        </p:nvSpPr>
        <p:spPr>
          <a:xfrm>
            <a:off x="10073637" y="3786601"/>
            <a:ext cx="1810512" cy="896112"/>
          </a:xfrm>
          <a:prstGeom prst="roundRect">
            <a:avLst/>
          </a:prstGeom>
          <a:solidFill>
            <a:srgbClr val="EAF2F8"/>
          </a:solidFill>
          <a:ln>
            <a:solidFill>
              <a:srgbClr val="B6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0128501" y="3878041"/>
            <a:ext cx="1700784" cy="237744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1000" b="1">
                <a:solidFill>
                  <a:srgbClr val="174A85"/>
                </a:solidFill>
                <a:latin typeface="Aptos"/>
              </a:defRPr>
            </a:pPr>
            <a:r>
              <a:t>6. ALERT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137645" y="4034727"/>
            <a:ext cx="1682495" cy="643253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000" b="0">
                <a:solidFill>
                  <a:srgbClr val="26323F"/>
                </a:solidFill>
                <a:latin typeface="Aptos"/>
              </a:defRPr>
            </a:pPr>
            <a:r>
              <a:rPr lang="en-IN" sz="1000" dirty="0">
                <a:solidFill>
                  <a:srgbClr val="26323F"/>
                </a:solidFill>
                <a:latin typeface="Aptos"/>
              </a:rPr>
              <a:t>Dispatches pre-arrival ER alert to destination hospital and resets traffic signal to normal post-passage.</a:t>
            </a:r>
            <a:endParaRPr dirty="0"/>
          </a:p>
        </p:txBody>
      </p:sp>
      <p:sp>
        <p:nvSpPr>
          <p:cNvPr id="176" name="TextBox 175"/>
          <p:cNvSpPr txBox="1"/>
          <p:nvPr/>
        </p:nvSpPr>
        <p:spPr>
          <a:xfrm>
            <a:off x="2727956" y="24032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74A85"/>
                </a:solidFill>
                <a:latin typeface="Aptos"/>
              </a:defRPr>
            </a:pPr>
            <a:r>
              <a:rPr lang="en-IN" sz="2400" dirty="0"/>
              <a:t>TECHNICAL APPROACH</a:t>
            </a:r>
            <a:endParaRPr lang="en-I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77240" y="270480"/>
            <a:ext cx="9784080" cy="397032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ctr">
              <a:defRPr sz="2400" b="1">
                <a:solidFill>
                  <a:srgbClr val="174A85"/>
                </a:solidFill>
                <a:latin typeface="Aptos"/>
              </a:defRPr>
            </a:pPr>
            <a:r>
              <a:rPr lang="en-IN" dirty="0"/>
              <a:t>IMPACT POTENTIAL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11475720" cy="32004"/>
          </a:xfrm>
          <a:prstGeom prst="rect">
            <a:avLst/>
          </a:prstGeom>
          <a:solidFill>
            <a:srgbClr val="174A85"/>
          </a:solidFill>
          <a:ln>
            <a:solidFill>
              <a:srgbClr val="174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7315200" cy="18288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800" b="0">
                <a:solidFill>
                  <a:srgbClr val="626D78"/>
                </a:solidFill>
                <a:latin typeface="Aptos"/>
              </a:defRPr>
            </a:pPr>
            <a:r>
              <a:t>@HSC submission – Template  |  HYDRIX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22860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ctr">
              <a:defRPr sz="900" b="0">
                <a:solidFill>
                  <a:srgbClr val="626D7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5394960" cy="1234440"/>
          </a:xfrm>
          <a:prstGeom prst="roundRect">
            <a:avLst/>
          </a:prstGeom>
          <a:solidFill>
            <a:srgbClr val="F4F8FA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5029200" cy="27432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300" b="1">
                <a:solidFill>
                  <a:srgbClr val="00708C"/>
                </a:solidFill>
                <a:latin typeface="Aptos"/>
              </a:defRPr>
            </a:pPr>
            <a:r>
              <a:t>CRITICAL PATIENTS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19072"/>
            <a:ext cx="5029200" cy="59436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r>
              <a:rPr lang="en-IN" sz="1200" dirty="0">
                <a:solidFill>
                  <a:srgbClr val="26323F"/>
                </a:solidFill>
                <a:latin typeface="Aptos"/>
              </a:rPr>
              <a:t>Drastically cuts intersection wait times during the Golden Hour and ensures seamless post-admission care by rapidly connecting family members/attenders for unidentified victims.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309360" y="1234440"/>
            <a:ext cx="5394960" cy="1234440"/>
          </a:xfrm>
          <a:prstGeom prst="roundRect">
            <a:avLst/>
          </a:prstGeom>
          <a:solidFill>
            <a:srgbClr val="F4F8FA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5029200" cy="27432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300" b="1">
                <a:solidFill>
                  <a:srgbClr val="00708C"/>
                </a:solidFill>
                <a:latin typeface="Aptos"/>
              </a:defRPr>
            </a:pPr>
            <a:r>
              <a:t>AMBULANCE DRIVERS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19072"/>
            <a:ext cx="5029200" cy="397032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r>
              <a:rPr lang="en-IN" sz="1200" dirty="0">
                <a:solidFill>
                  <a:srgbClr val="26323F"/>
                </a:solidFill>
                <a:latin typeface="Aptos"/>
              </a:rPr>
              <a:t>Provides stress-free navigation with automated 1 km advance green corridors, dynamic congestion bypass, and effortless hospital switching.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594360" y="2743200"/>
            <a:ext cx="5394960" cy="1234440"/>
          </a:xfrm>
          <a:prstGeom prst="roundRect">
            <a:avLst/>
          </a:prstGeom>
          <a:solidFill>
            <a:srgbClr val="F4F8FA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5029200" cy="27432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300" b="1">
                <a:solidFill>
                  <a:srgbClr val="00708C"/>
                </a:solidFill>
                <a:latin typeface="Aptos"/>
              </a:defRPr>
            </a:pPr>
            <a:r>
              <a:t>HOSPITALS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27832"/>
            <a:ext cx="5029200" cy="59436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r>
              <a:rPr lang="en-IN" sz="1200" dirty="0">
                <a:solidFill>
                  <a:srgbClr val="26323F"/>
                </a:solidFill>
                <a:latin typeface="Aptos"/>
              </a:rPr>
              <a:t>Delivers real-time incoming ambulance tracking, advance triage alerts to mobilize ER staff/beds, and immediate family contact verification for critical medical consents.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6309360" y="2743200"/>
            <a:ext cx="5394960" cy="1234440"/>
          </a:xfrm>
          <a:prstGeom prst="roundRect">
            <a:avLst/>
          </a:prstGeom>
          <a:solidFill>
            <a:srgbClr val="F4F8FA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880360"/>
            <a:ext cx="5029200" cy="27432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300" b="1">
                <a:solidFill>
                  <a:srgbClr val="00708C"/>
                </a:solidFill>
                <a:latin typeface="Aptos"/>
              </a:defRPr>
            </a:pPr>
            <a:r>
              <a:t>TRAFFIC POLICE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27832"/>
            <a:ext cx="5029200" cy="581698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r>
              <a:rPr lang="en-IN" sz="1200" dirty="0">
                <a:solidFill>
                  <a:srgbClr val="26323F"/>
                </a:solidFill>
                <a:latin typeface="Aptos"/>
              </a:rPr>
              <a:t>Offers a centralized command dashboard with automated conflict resolution, reducing manual traffic-clearing burdens in un-policed or congested zones.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594360" y="4251960"/>
            <a:ext cx="5394960" cy="1234440"/>
          </a:xfrm>
          <a:prstGeom prst="roundRect">
            <a:avLst/>
          </a:prstGeom>
          <a:solidFill>
            <a:srgbClr val="F4F8FA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89120"/>
            <a:ext cx="5029200" cy="27432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300" b="1">
                <a:solidFill>
                  <a:srgbClr val="00708C"/>
                </a:solidFill>
                <a:latin typeface="Aptos"/>
              </a:defRPr>
            </a:pPr>
            <a:r>
              <a:t>SOCIAL BENEFIT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36592"/>
            <a:ext cx="5029200" cy="59436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r>
              <a:rPr lang="en-IN" sz="1200" dirty="0">
                <a:solidFill>
                  <a:srgbClr val="26323F"/>
                </a:solidFill>
                <a:latin typeface="Aptos"/>
              </a:rPr>
              <a:t>Bridges the emergency care gap for vulnerable groups (elderly citizens, out-of-station students/workers) by ensuring no patient remains "unidentified" or unattended in government/private hospitals.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6309360" y="4251960"/>
            <a:ext cx="5394960" cy="1234440"/>
          </a:xfrm>
          <a:prstGeom prst="roundRect">
            <a:avLst/>
          </a:prstGeom>
          <a:solidFill>
            <a:srgbClr val="F4F8FA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389120"/>
            <a:ext cx="5029200" cy="27432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300" b="1">
                <a:solidFill>
                  <a:srgbClr val="00708C"/>
                </a:solidFill>
                <a:latin typeface="Aptos"/>
              </a:defRPr>
            </a:pPr>
            <a:r>
              <a:t>ECONOMIC + ENVIRONMENTAL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36592"/>
            <a:ext cx="5029200" cy="59436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r>
              <a:rPr lang="en-IN" sz="1200" dirty="0">
                <a:solidFill>
                  <a:srgbClr val="26323F"/>
                </a:solidFill>
                <a:latin typeface="Aptos"/>
              </a:rPr>
              <a:t>Retrofits into existing traffic infrastructure using low-cost IoT modules; prevents severe junction gridlocks and reduces fuel wastage and emissions from idling vehicles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320040" y="321106"/>
            <a:ext cx="1143000" cy="520142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1000" b="1">
                <a:solidFill>
                  <a:srgbClr val="26323F"/>
                </a:solidFill>
                <a:latin typeface="Aptos"/>
              </a:defRPr>
            </a:pPr>
            <a:r>
              <a:rPr sz="1600" dirty="0"/>
              <a:t>TEAM</a:t>
            </a:r>
            <a:endParaRPr sz="1600" dirty="0"/>
          </a:p>
          <a:p>
            <a:pPr algn="l">
              <a:defRPr sz="1000" b="1">
                <a:solidFill>
                  <a:srgbClr val="26323F"/>
                </a:solidFill>
                <a:latin typeface="Aptos"/>
              </a:defRPr>
            </a:pPr>
            <a:r>
              <a:rPr sz="1600" dirty="0"/>
              <a:t>NEXUS</a:t>
            </a:r>
            <a:endParaRPr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80160" y="272664"/>
            <a:ext cx="9784080" cy="397032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ctr">
              <a:defRPr sz="2400" b="1">
                <a:solidFill>
                  <a:srgbClr val="174A85"/>
                </a:solidFill>
                <a:latin typeface="Aptos"/>
              </a:defRPr>
            </a:pPr>
            <a:r>
              <a:rPr lang="en-IN" dirty="0"/>
              <a:t>FEASIBILITY AND RISK ANALYSIS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11475720" cy="32004"/>
          </a:xfrm>
          <a:prstGeom prst="rect">
            <a:avLst/>
          </a:prstGeom>
          <a:solidFill>
            <a:srgbClr val="174A85"/>
          </a:solidFill>
          <a:ln>
            <a:solidFill>
              <a:srgbClr val="174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7315200" cy="18288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800" b="0">
                <a:solidFill>
                  <a:srgbClr val="626D78"/>
                </a:solidFill>
                <a:latin typeface="Aptos"/>
              </a:defRPr>
            </a:pPr>
            <a:r>
              <a:t>@HSC submission – Template  |  HYDRIX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22860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ctr">
              <a:defRPr sz="900" b="0">
                <a:solidFill>
                  <a:srgbClr val="626D7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3657600" cy="2644353"/>
          </a:xfrm>
          <a:prstGeom prst="roundRect">
            <a:avLst/>
          </a:prstGeom>
          <a:solidFill>
            <a:srgbClr val="F6F8FA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3383280" cy="32004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1300" b="1">
                <a:solidFill>
                  <a:srgbClr val="00708C"/>
                </a:solidFill>
                <a:latin typeface="Aptos"/>
              </a:defRPr>
            </a:pPr>
            <a:r>
              <a:t>FEASIBILITY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74519"/>
            <a:ext cx="3337560" cy="1889748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100" b="0">
                <a:solidFill>
                  <a:srgbClr val="26323F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100" b="1" dirty="0">
                <a:solidFill>
                  <a:srgbClr val="26323F"/>
                </a:solidFill>
                <a:latin typeface="Aptos"/>
              </a:rPr>
              <a:t>Cost-Effective Hardware:</a:t>
            </a:r>
            <a:r>
              <a:rPr lang="en-IN" sz="1100" dirty="0">
                <a:solidFill>
                  <a:srgbClr val="26323F"/>
                </a:solidFill>
                <a:latin typeface="Aptos"/>
              </a:rPr>
              <a:t> Built on affordable, off-the-shelf ESP32, NEO-6M GPS, and SX1276 LoRa modules for scalable deployment. </a:t>
            </a:r>
            <a:br>
              <a:rPr lang="en-IN" sz="1100" dirty="0">
                <a:solidFill>
                  <a:srgbClr val="26323F"/>
                </a:solidFill>
                <a:latin typeface="Aptos"/>
              </a:rPr>
            </a:br>
            <a:r>
              <a:rPr dirty="0"/>
              <a:t>• </a:t>
            </a:r>
            <a:r>
              <a:rPr lang="en-IN" sz="1100" b="1" dirty="0">
                <a:solidFill>
                  <a:srgbClr val="26323F"/>
                </a:solidFill>
                <a:latin typeface="Aptos"/>
              </a:rPr>
              <a:t>Network-Independent Fallback:</a:t>
            </a:r>
            <a:r>
              <a:rPr lang="en-IN" sz="1100" dirty="0">
                <a:solidFill>
                  <a:srgbClr val="26323F"/>
                </a:solidFill>
                <a:latin typeface="Aptos"/>
              </a:rPr>
              <a:t> LoRa P2P communication ensures reliable 1 km signal pre-emption and beacon activation even during cellular network blackouts. </a:t>
            </a:r>
            <a:br>
              <a:rPr lang="en-IN" sz="1100" dirty="0">
                <a:solidFill>
                  <a:srgbClr val="26323F"/>
                </a:solidFill>
                <a:latin typeface="Aptos"/>
              </a:rPr>
            </a:br>
            <a:r>
              <a:rPr dirty="0"/>
              <a:t>• </a:t>
            </a:r>
            <a:r>
              <a:rPr lang="en-IN" sz="1100" b="1" dirty="0">
                <a:solidFill>
                  <a:srgbClr val="26323F"/>
                </a:solidFill>
                <a:latin typeface="Aptos"/>
              </a:rPr>
              <a:t>Modular Software Integration:</a:t>
            </a:r>
            <a:r>
              <a:rPr lang="en-IN" sz="1100" dirty="0">
                <a:solidFill>
                  <a:srgbClr val="26323F"/>
                </a:solidFill>
                <a:latin typeface="Aptos"/>
              </a:rPr>
              <a:t> Role-based Flutter architecture easily integrates with existing Smart City (ICCC) dashboards and 108 emergency response systems.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657600" cy="3037658"/>
          </a:xfrm>
          <a:prstGeom prst="roundRect">
            <a:avLst/>
          </a:prstGeom>
          <a:solidFill>
            <a:srgbClr val="F6F8FA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17320"/>
            <a:ext cx="3383280" cy="32004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1300" b="1">
                <a:solidFill>
                  <a:srgbClr val="00708C"/>
                </a:solidFill>
                <a:latin typeface="Aptos"/>
              </a:defRPr>
            </a:pPr>
            <a:r>
              <a:t>RISKS / 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874519"/>
            <a:ext cx="3337560" cy="2228302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100" b="0">
                <a:solidFill>
                  <a:srgbClr val="26323F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100" b="1" dirty="0">
                <a:solidFill>
                  <a:srgbClr val="26323F"/>
                </a:solidFill>
                <a:latin typeface="Aptos"/>
              </a:rPr>
              <a:t>Signal Spoofing / Hacking:</a:t>
            </a:r>
            <a:r>
              <a:rPr lang="en-IN" sz="1100" dirty="0">
                <a:solidFill>
                  <a:srgbClr val="26323F"/>
                </a:solidFill>
                <a:latin typeface="Aptos"/>
              </a:rPr>
              <a:t> Unauthorized users attempting to trigger green lights (common in legacy RFID systems).</a:t>
            </a:r>
            <a:endParaRPr dirty="0"/>
          </a:p>
          <a:p>
            <a:pPr>
              <a:defRPr sz="1100" b="0">
                <a:solidFill>
                  <a:srgbClr val="26323F"/>
                </a:solidFill>
                <a:latin typeface="Aptos"/>
              </a:defRPr>
            </a:pPr>
            <a:r>
              <a:rPr lang="en-IN" sz="1100" b="1" dirty="0">
                <a:solidFill>
                  <a:srgbClr val="26323F"/>
                </a:solidFill>
                <a:latin typeface="Aptos"/>
              </a:rPr>
              <a:t>Multi-Ambulance &amp; Parallel Road Conflicts:</a:t>
            </a:r>
            <a:r>
              <a:rPr lang="en-IN" sz="1100" dirty="0">
                <a:solidFill>
                  <a:srgbClr val="26323F"/>
                </a:solidFill>
                <a:latin typeface="Aptos"/>
              </a:rPr>
              <a:t> Two ambulances approaching the same junction simultaneously, or GPS drift triggering signals on adjacent roads. </a:t>
            </a:r>
            <a:br>
              <a:rPr lang="en-IN" sz="1100" dirty="0">
                <a:solidFill>
                  <a:srgbClr val="26323F"/>
                </a:solidFill>
                <a:latin typeface="Aptos"/>
              </a:rPr>
            </a:br>
            <a:r>
              <a:rPr dirty="0"/>
              <a:t>• </a:t>
            </a:r>
            <a:r>
              <a:rPr lang="en-IN" sz="1100" b="1" dirty="0">
                <a:solidFill>
                  <a:srgbClr val="26323F"/>
                </a:solidFill>
                <a:latin typeface="Aptos"/>
              </a:rPr>
              <a:t>Un-</a:t>
            </a:r>
            <a:r>
              <a:rPr lang="en-IN" sz="1100" b="1" dirty="0" err="1">
                <a:solidFill>
                  <a:srgbClr val="26323F"/>
                </a:solidFill>
                <a:latin typeface="Aptos"/>
              </a:rPr>
              <a:t>Signaled</a:t>
            </a:r>
            <a:r>
              <a:rPr lang="en-IN" sz="1100" b="1" dirty="0">
                <a:solidFill>
                  <a:srgbClr val="26323F"/>
                </a:solidFill>
                <a:latin typeface="Aptos"/>
              </a:rPr>
              <a:t> Congestion Zones:</a:t>
            </a:r>
            <a:r>
              <a:rPr lang="en-IN" sz="1100" dirty="0">
                <a:solidFill>
                  <a:srgbClr val="26323F"/>
                </a:solidFill>
                <a:latin typeface="Aptos"/>
              </a:rPr>
              <a:t> Bottlenecks at intersections lacking traffic lights or traffic police personnel. </a:t>
            </a:r>
            <a:br>
              <a:rPr lang="en-IN" sz="1100" dirty="0">
                <a:solidFill>
                  <a:srgbClr val="26323F"/>
                </a:solidFill>
                <a:latin typeface="Aptos"/>
              </a:rPr>
            </a:br>
            <a:r>
              <a:rPr dirty="0"/>
              <a:t>• </a:t>
            </a:r>
            <a:r>
              <a:rPr lang="en-IN" sz="1100" b="1" dirty="0">
                <a:solidFill>
                  <a:srgbClr val="26323F"/>
                </a:solidFill>
                <a:latin typeface="Aptos"/>
              </a:rPr>
              <a:t>Privacy &amp; Regulatory Compliance:</a:t>
            </a:r>
            <a:r>
              <a:rPr lang="en-IN" sz="1100" dirty="0">
                <a:solidFill>
                  <a:srgbClr val="26323F"/>
                </a:solidFill>
                <a:latin typeface="Aptos"/>
              </a:rPr>
              <a:t> Securing authority approval for live traffic signal control and telecom-based emergency caller tracing. 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8229600" y="1234440"/>
            <a:ext cx="3657600" cy="3099079"/>
          </a:xfrm>
          <a:prstGeom prst="roundRect">
            <a:avLst/>
          </a:prstGeom>
          <a:solidFill>
            <a:srgbClr val="F6F8FA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417320"/>
            <a:ext cx="3383280" cy="32004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1300" b="1">
                <a:solidFill>
                  <a:srgbClr val="00708C"/>
                </a:solidFill>
                <a:latin typeface="Aptos"/>
              </a:defRPr>
            </a:pPr>
            <a:r>
              <a:t>MITIGATION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1874519"/>
            <a:ext cx="3337560" cy="2397579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100" b="0">
                <a:solidFill>
                  <a:srgbClr val="26323F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100" b="1" dirty="0">
                <a:solidFill>
                  <a:srgbClr val="26323F"/>
                </a:solidFill>
                <a:latin typeface="Aptos"/>
              </a:rPr>
              <a:t>Cryptographic Authentication:</a:t>
            </a:r>
            <a:r>
              <a:rPr lang="en-IN" sz="1100" dirty="0">
                <a:solidFill>
                  <a:srgbClr val="26323F"/>
                </a:solidFill>
                <a:latin typeface="Aptos"/>
              </a:rPr>
              <a:t> Enforces AES-128 encryption, signed MQTT packets, and whitelisted hardware IDs to eliminate spoofing. </a:t>
            </a:r>
            <a:br>
              <a:rPr lang="en-IN" sz="1100" dirty="0">
                <a:solidFill>
                  <a:srgbClr val="26323F"/>
                </a:solidFill>
                <a:latin typeface="Aptos"/>
              </a:rPr>
            </a:br>
            <a:r>
              <a:rPr lang="en-IN" sz="1100" b="1" dirty="0">
                <a:solidFill>
                  <a:srgbClr val="26323F"/>
                </a:solidFill>
                <a:latin typeface="Aptos"/>
              </a:rPr>
              <a:t>Vector Geofencing &amp; Triage Priority:</a:t>
            </a:r>
            <a:r>
              <a:rPr lang="en-IN" sz="1100" dirty="0">
                <a:solidFill>
                  <a:srgbClr val="26323F"/>
                </a:solidFill>
                <a:latin typeface="Aptos"/>
              </a:rPr>
              <a:t> Uses GPS heading checks to confirm route alignment and prioritizes higher-severity (Red Triage) ambulances during junction conflicts. </a:t>
            </a:r>
            <a:br>
              <a:rPr lang="en-IN" sz="1100" dirty="0">
                <a:solidFill>
                  <a:srgbClr val="26323F"/>
                </a:solidFill>
                <a:latin typeface="Aptos"/>
              </a:rPr>
            </a:br>
            <a:r>
              <a:rPr lang="en-IN" sz="1100" b="1" dirty="0">
                <a:solidFill>
                  <a:srgbClr val="26323F"/>
                </a:solidFill>
                <a:latin typeface="Aptos"/>
              </a:rPr>
              <a:t>Smart Roadside Beacons:</a:t>
            </a:r>
            <a:r>
              <a:rPr lang="en-IN" sz="1100" dirty="0">
                <a:solidFill>
                  <a:srgbClr val="26323F"/>
                </a:solidFill>
                <a:latin typeface="Aptos"/>
              </a:rPr>
              <a:t> Deploys solar-powered LoRa warning beacons at no -signal bottlenecks to alert commuters ahead of time. </a:t>
            </a:r>
            <a:br>
              <a:rPr lang="en-IN" sz="1100" dirty="0">
                <a:solidFill>
                  <a:srgbClr val="26323F"/>
                </a:solidFill>
                <a:latin typeface="Aptos"/>
              </a:rPr>
            </a:br>
            <a:r>
              <a:rPr lang="en-IN" sz="1100" b="1" dirty="0">
                <a:solidFill>
                  <a:srgbClr val="26323F"/>
                </a:solidFill>
                <a:latin typeface="Aptos"/>
              </a:rPr>
              <a:t>Fail-Safe Governance:</a:t>
            </a:r>
            <a:r>
              <a:rPr lang="en-IN" sz="1100" dirty="0">
                <a:solidFill>
                  <a:srgbClr val="26323F"/>
                </a:solidFill>
                <a:latin typeface="Aptos"/>
              </a:rPr>
              <a:t> Maintains mandatory pedestrian clearance timers, override controls, and automated privacy-masked family notifications via official 108 gateways.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594360" y="5806440"/>
            <a:ext cx="10972800" cy="438912"/>
          </a:xfrm>
          <a:prstGeom prst="roundRect">
            <a:avLst/>
          </a:prstGeom>
          <a:solidFill>
            <a:srgbClr val="FFF3E9"/>
          </a:solidFill>
          <a:ln>
            <a:solidFill>
              <a:srgbClr val="E8B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879592"/>
            <a:ext cx="10698480" cy="22860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1100" b="1">
                <a:solidFill>
                  <a:srgbClr val="EB6B25"/>
                </a:solidFill>
                <a:latin typeface="Aptos"/>
              </a:defRPr>
            </a:pPr>
            <a:r>
              <a:t>&lt;200 ms latency and zero recurring cost are design targets to validate, not measured results.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21106"/>
            <a:ext cx="1143000" cy="520142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1000" b="1">
                <a:solidFill>
                  <a:srgbClr val="26323F"/>
                </a:solidFill>
                <a:latin typeface="Aptos"/>
              </a:defRPr>
            </a:pPr>
            <a:r>
              <a:rPr sz="1600" dirty="0"/>
              <a:t>TEAM</a:t>
            </a:r>
            <a:endParaRPr sz="1600" dirty="0"/>
          </a:p>
          <a:p>
            <a:pPr algn="l">
              <a:defRPr sz="1000" b="1">
                <a:solidFill>
                  <a:srgbClr val="26323F"/>
                </a:solidFill>
                <a:latin typeface="Aptos"/>
              </a:defRPr>
            </a:pPr>
            <a:r>
              <a:rPr sz="1600" dirty="0"/>
              <a:t>NEXUS</a:t>
            </a:r>
            <a:endParaRPr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411480" y="4306087"/>
            <a:ext cx="10881360" cy="32004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600" b="1">
                <a:solidFill>
                  <a:srgbClr val="EB6B25"/>
                </a:solidFill>
                <a:latin typeface="Aptos"/>
              </a:defRPr>
            </a:pPr>
            <a:r>
              <a:rPr dirty="0"/>
              <a:t>INNOVATION &amp; UNIQUENESS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901372" y="4711041"/>
            <a:ext cx="10789920" cy="981807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400" b="0">
                <a:solidFill>
                  <a:srgbClr val="26323F"/>
                </a:solidFill>
                <a:latin typeface="Aptos"/>
              </a:defRPr>
            </a:pPr>
            <a:r>
              <a:rPr lang="en-IN" sz="1200" dirty="0"/>
              <a:t>•  </a:t>
            </a:r>
            <a:r>
              <a:rPr lang="en-IN" sz="1200" b="1" dirty="0">
                <a:solidFill>
                  <a:srgbClr val="26323F"/>
                </a:solidFill>
                <a:latin typeface="Aptos"/>
              </a:rPr>
              <a:t>Spoof-Proof Architecture:</a:t>
            </a:r>
            <a:r>
              <a:rPr lang="en-IN" sz="1200" dirty="0">
                <a:solidFill>
                  <a:srgbClr val="26323F"/>
                </a:solidFill>
                <a:latin typeface="Aptos"/>
              </a:rPr>
              <a:t> Replaces vulnerable RFID triggers with AES-128 encrypted GPS telemetry, registered device IDs, and cryptographically signed priority requests. </a:t>
            </a:r>
            <a:br>
              <a:rPr lang="en-IN" sz="1200" dirty="0">
                <a:solidFill>
                  <a:srgbClr val="26323F"/>
                </a:solidFill>
                <a:latin typeface="Aptos"/>
              </a:rPr>
            </a:br>
            <a:r>
              <a:rPr sz="1200" dirty="0"/>
              <a:t>• </a:t>
            </a:r>
            <a:r>
              <a:rPr lang="en-IN" sz="1200" b="1" dirty="0">
                <a:solidFill>
                  <a:srgbClr val="26323F"/>
                </a:solidFill>
                <a:latin typeface="Aptos"/>
              </a:rPr>
              <a:t>End-to-End Life-Saving Continuum:</a:t>
            </a:r>
            <a:r>
              <a:rPr lang="en-IN" sz="1200" dirty="0">
                <a:solidFill>
                  <a:srgbClr val="26323F"/>
                </a:solidFill>
                <a:latin typeface="Aptos"/>
              </a:rPr>
              <a:t> Goes beyond road transit by solving post-arrival hospital bottlenecks through automated next-of-kin tracing for unidentified trauma patients. </a:t>
            </a:r>
            <a:br>
              <a:rPr lang="en-IN" sz="1200" dirty="0">
                <a:solidFill>
                  <a:srgbClr val="26323F"/>
                </a:solidFill>
                <a:latin typeface="Aptos"/>
              </a:rPr>
            </a:br>
            <a:endParaRPr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43000" y="299831"/>
            <a:ext cx="9784080" cy="397032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ctr">
              <a:defRPr sz="2400" b="1">
                <a:solidFill>
                  <a:srgbClr val="174A85"/>
                </a:solidFill>
                <a:latin typeface="Aptos"/>
              </a:defRPr>
            </a:pPr>
            <a:r>
              <a:rPr lang="en-IN" dirty="0"/>
              <a:t>TEAM 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11475720" cy="32004"/>
          </a:xfrm>
          <a:prstGeom prst="rect">
            <a:avLst/>
          </a:prstGeom>
          <a:solidFill>
            <a:srgbClr val="174A85"/>
          </a:solidFill>
          <a:ln>
            <a:solidFill>
              <a:srgbClr val="174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7315200" cy="18288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800" b="0">
                <a:solidFill>
                  <a:srgbClr val="626D78"/>
                </a:solidFill>
                <a:latin typeface="Aptos"/>
              </a:defRPr>
            </a:pPr>
            <a:r>
              <a:t>@HSC submission – Template  |  HYDRIX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22860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ctr">
              <a:defRPr sz="900" b="0">
                <a:solidFill>
                  <a:srgbClr val="626D78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600" b="1">
                <a:solidFill>
                  <a:srgbClr val="EB6B25"/>
                </a:solidFill>
                <a:latin typeface="Aptos"/>
              </a:defRPr>
            </a:pPr>
            <a:r>
              <a:t>TEAM COMPOSITION — TEAM NEXUS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789920" cy="868680"/>
          </a:xfrm>
          <a:prstGeom prst="roundRect">
            <a:avLst/>
          </a:prstGeom>
          <a:solidFill>
            <a:srgbClr val="F4F8FA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92807"/>
            <a:ext cx="2743200" cy="27432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400" b="1">
                <a:solidFill>
                  <a:srgbClr val="00708C"/>
                </a:solidFill>
                <a:latin typeface="Aptos"/>
              </a:defRPr>
            </a:pPr>
            <a:r>
              <a:t>KUMARAGURU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892807"/>
            <a:ext cx="7406640" cy="41148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r>
              <a:rPr lang="en-IN" sz="1200" dirty="0">
                <a:solidFill>
                  <a:srgbClr val="26323F"/>
                </a:solidFill>
                <a:latin typeface="Aptos"/>
              </a:rPr>
              <a:t>Team Leader | Core Member | Embedded Systems &amp; IoT Hardware: Develops the onboard ESP32-GPS telemetry unit, SX1276 LoRa 1 km signal pre-emption module, and smart roadside beacon hardware.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731520" y="2880360"/>
            <a:ext cx="10789920" cy="868680"/>
          </a:xfrm>
          <a:prstGeom prst="roundRect">
            <a:avLst/>
          </a:prstGeom>
          <a:solidFill>
            <a:srgbClr val="F4F8FA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35808"/>
            <a:ext cx="2743200" cy="27432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400" b="1">
                <a:solidFill>
                  <a:srgbClr val="00708C"/>
                </a:solidFill>
                <a:latin typeface="Aptos"/>
              </a:defRPr>
            </a:pPr>
            <a:r>
              <a:t>ADIDEV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035808"/>
            <a:ext cx="7406640" cy="41148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r>
              <a:rPr dirty="0"/>
              <a:t>Member </a:t>
            </a:r>
            <a:r>
              <a:rPr lang="en-IN" dirty="0"/>
              <a:t>| </a:t>
            </a:r>
            <a:r>
              <a:rPr lang="en-IN" sz="1200" dirty="0">
                <a:solidFill>
                  <a:srgbClr val="26323F"/>
                </a:solidFill>
                <a:latin typeface="Aptos"/>
              </a:rPr>
              <a:t>System Architecture, AI/ML &amp; Integration: Leads overall system architecture, ML route/congestion </a:t>
            </a:r>
            <a:r>
              <a:rPr lang="en-IN" sz="1200" dirty="0" err="1">
                <a:solidFill>
                  <a:srgbClr val="26323F"/>
                </a:solidFill>
                <a:latin typeface="Aptos"/>
              </a:rPr>
              <a:t>modeling</a:t>
            </a:r>
            <a:r>
              <a:rPr lang="en-IN" sz="1200" dirty="0">
                <a:solidFill>
                  <a:srgbClr val="26323F"/>
                </a:solidFill>
                <a:latin typeface="Aptos"/>
              </a:rPr>
              <a:t>, 3-tier role-based workflow design, and presentation strategy.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10789920" cy="868680"/>
          </a:xfrm>
          <a:prstGeom prst="roundRect">
            <a:avLst/>
          </a:prstGeom>
          <a:solidFill>
            <a:srgbClr val="F4F8FA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78808"/>
            <a:ext cx="2743200" cy="27432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400" b="1">
                <a:solidFill>
                  <a:srgbClr val="00708C"/>
                </a:solidFill>
                <a:latin typeface="Aptos"/>
              </a:defRPr>
            </a:pPr>
            <a:r>
              <a:t>GOKUL RAJ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178808"/>
            <a:ext cx="7406640" cy="41148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r>
              <a:rPr dirty="0"/>
              <a:t>Member </a:t>
            </a:r>
            <a:r>
              <a:rPr lang="en-IN" sz="1200" dirty="0">
                <a:solidFill>
                  <a:srgbClr val="26323F"/>
                </a:solidFill>
                <a:latin typeface="Aptos"/>
              </a:rPr>
              <a:t>| Application Development, Testing &amp; Documentation: Builds the Flutter role-based interfaces (Govt, Hospital, Driver), Firebase/MQTT cloud integration, and system validation. 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777240" y="5870448"/>
            <a:ext cx="10515600" cy="54864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200" b="0">
                <a:solidFill>
                  <a:srgbClr val="626D78"/>
                </a:solidFill>
                <a:latin typeface="Aptos"/>
              </a:defRPr>
            </a:pPr>
            <a:r>
              <a:t>Journey focus: build a safe, low-cost prototype; validate with simulated traffic before field trials.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21106"/>
            <a:ext cx="1143000" cy="520142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1000" b="1">
                <a:solidFill>
                  <a:srgbClr val="26323F"/>
                </a:solidFill>
                <a:latin typeface="Aptos"/>
              </a:defRPr>
            </a:pPr>
            <a:r>
              <a:rPr sz="1600" dirty="0"/>
              <a:t>TEAM</a:t>
            </a:r>
            <a:endParaRPr sz="1600" dirty="0"/>
          </a:p>
          <a:p>
            <a:pPr algn="l">
              <a:defRPr sz="1000" b="1">
                <a:solidFill>
                  <a:srgbClr val="26323F"/>
                </a:solidFill>
                <a:latin typeface="Aptos"/>
              </a:defRPr>
            </a:pPr>
            <a:r>
              <a:rPr sz="1600" dirty="0"/>
              <a:t>NEXUS</a:t>
            </a:r>
            <a:endParaRPr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" y="307056"/>
            <a:ext cx="11384280" cy="397032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ctr">
              <a:defRPr sz="2400" b="1">
                <a:solidFill>
                  <a:srgbClr val="174A85"/>
                </a:solidFill>
                <a:latin typeface="Aptos"/>
              </a:defRPr>
            </a:pPr>
            <a:r>
              <a:rPr lang="en-IN" dirty="0"/>
              <a:t>REFERENCES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11475720" cy="32004"/>
          </a:xfrm>
          <a:prstGeom prst="rect">
            <a:avLst/>
          </a:prstGeom>
          <a:solidFill>
            <a:srgbClr val="174A85"/>
          </a:solidFill>
          <a:ln>
            <a:solidFill>
              <a:srgbClr val="174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7315200" cy="18288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800" b="0">
                <a:solidFill>
                  <a:srgbClr val="626D78"/>
                </a:solidFill>
                <a:latin typeface="Aptos"/>
              </a:defRPr>
            </a:pPr>
            <a:r>
              <a:t>@HSC submission – Template  |  HYDRIX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22860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ctr">
              <a:defRPr sz="900" b="0">
                <a:solidFill>
                  <a:srgbClr val="626D78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10881360" cy="3167021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00" dirty="0">
                <a:solidFill>
                  <a:srgbClr val="26323F"/>
                </a:solidFill>
                <a:latin typeface="Aptos"/>
              </a:rPr>
              <a:t>Ministry of Road Transport &amp; Highways (MoRTH) – Golden Hour &amp; Good Samaritan Guidelines: </a:t>
            </a:r>
            <a:r>
              <a:rPr lang="en-IN" sz="1200" dirty="0">
                <a:solidFill>
                  <a:srgbClr val="26323F"/>
                </a:solidFill>
                <a:latin typeface="Aptos"/>
                <a:hlinkClick r:id="rId1"/>
              </a:rPr>
              <a:t>https://morth.nic.in/</a:t>
            </a:r>
            <a:endParaRPr lang="en-IN" sz="1200" dirty="0">
              <a:solidFill>
                <a:srgbClr val="26323F"/>
              </a:solidFill>
              <a:latin typeface="Aptos"/>
            </a:endParaRPr>
          </a:p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r>
              <a:rPr lang="en-IN" sz="1200" dirty="0">
                <a:solidFill>
                  <a:srgbClr val="26323F"/>
                </a:solidFill>
                <a:latin typeface="Aptos"/>
                <a:hlinkClick r:id="rId1"/>
              </a:rPr>
              <a:t>https://morth.nic.in/</a:t>
            </a:r>
            <a:endParaRPr lang="en-IN" sz="1200" dirty="0">
              <a:solidFill>
                <a:srgbClr val="26323F"/>
              </a:solidFill>
              <a:latin typeface="Aptos"/>
            </a:endParaRPr>
          </a:p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00" dirty="0">
                <a:solidFill>
                  <a:srgbClr val="26323F"/>
                </a:solidFill>
                <a:latin typeface="Aptos"/>
              </a:rPr>
              <a:t>Telecom Regulatory Authority of India (TRAI) – Next-Gen Emergency Communication Frameworks: </a:t>
            </a:r>
            <a:r>
              <a:rPr lang="en-IN" sz="1200" dirty="0">
                <a:solidFill>
                  <a:srgbClr val="26323F"/>
                </a:solidFill>
                <a:latin typeface="Aptos"/>
                <a:hlinkClick r:id="rId2"/>
              </a:rPr>
              <a:t>https://www.trai.gov.in/</a:t>
            </a:r>
            <a:r>
              <a:rPr lang="en-IN" sz="1200" dirty="0">
                <a:solidFill>
                  <a:srgbClr val="26323F"/>
                </a:solidFill>
                <a:latin typeface="Aptos"/>
              </a:rPr>
              <a:t> </a:t>
            </a:r>
            <a:endParaRPr lang="en-IN" sz="1200" dirty="0">
              <a:solidFill>
                <a:srgbClr val="26323F"/>
              </a:solidFill>
              <a:latin typeface="Aptos"/>
            </a:endParaRPr>
          </a:p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r>
              <a:rPr lang="en-IN" sz="1200" dirty="0">
                <a:solidFill>
                  <a:srgbClr val="26323F"/>
                </a:solidFill>
                <a:latin typeface="Aptos"/>
                <a:hlinkClick r:id="rId2"/>
              </a:rPr>
              <a:t>https://www.trai.gov.in/</a:t>
            </a:r>
            <a:endParaRPr lang="en-IN" sz="1200" dirty="0">
              <a:solidFill>
                <a:srgbClr val="26323F"/>
              </a:solidFill>
              <a:latin typeface="Aptos"/>
            </a:endParaRPr>
          </a:p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endParaRPr lang="en-IN" dirty="0"/>
          </a:p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r>
              <a:rPr dirty="0"/>
              <a:t>• Flutter documentation: </a:t>
            </a:r>
            <a:r>
              <a:rPr dirty="0">
                <a:hlinkClick r:id="rId3"/>
              </a:rPr>
              <a:t>https://docs.flutter.dev/</a:t>
            </a:r>
            <a:endParaRPr lang="en-IN" dirty="0"/>
          </a:p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endParaRPr dirty="0"/>
          </a:p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r>
              <a:rPr dirty="0"/>
              <a:t>• Google Maps Platform: </a:t>
            </a:r>
            <a:r>
              <a:rPr dirty="0">
                <a:hlinkClick r:id="rId4"/>
              </a:rPr>
              <a:t>https://developers.google.com/maps</a:t>
            </a:r>
            <a:endParaRPr lang="en-IN" dirty="0"/>
          </a:p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endParaRPr dirty="0"/>
          </a:p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Espressif</a:t>
            </a:r>
            <a:r>
              <a:rPr dirty="0"/>
              <a:t> ESP32 documentation: </a:t>
            </a:r>
            <a:r>
              <a:rPr dirty="0">
                <a:hlinkClick r:id="rId5"/>
              </a:rPr>
              <a:t>https://docs.espressif.com/</a:t>
            </a:r>
            <a:endParaRPr lang="en-IN" dirty="0"/>
          </a:p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endParaRPr dirty="0"/>
          </a:p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r>
              <a:rPr dirty="0"/>
              <a:t>• u-</a:t>
            </a:r>
            <a:r>
              <a:rPr dirty="0" err="1"/>
              <a:t>blox</a:t>
            </a:r>
            <a:r>
              <a:rPr dirty="0"/>
              <a:t> GPS receiver documentation: </a:t>
            </a:r>
            <a:r>
              <a:rPr dirty="0">
                <a:hlinkClick r:id="rId6"/>
              </a:rPr>
              <a:t>https://www.u-blox.com/</a:t>
            </a:r>
            <a:endParaRPr lang="en-IN" dirty="0"/>
          </a:p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endParaRPr dirty="0"/>
          </a:p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r>
              <a:rPr dirty="0"/>
              <a:t>• LoRa / SX1276 datasheet and Semtech documentation: </a:t>
            </a:r>
            <a:r>
              <a:rPr dirty="0">
                <a:hlinkClick r:id="rId7"/>
              </a:rPr>
              <a:t>https://www.semtech.com/</a:t>
            </a:r>
            <a:endParaRPr lang="en-IN" dirty="0"/>
          </a:p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endParaRPr dirty="0"/>
          </a:p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MoHUA</a:t>
            </a:r>
            <a:r>
              <a:rPr dirty="0"/>
              <a:t> Smart Cities / ICCC resources: </a:t>
            </a:r>
            <a:r>
              <a:rPr dirty="0">
                <a:hlinkClick r:id="rId8"/>
              </a:rPr>
              <a:t>https://mohua.gov.in/</a:t>
            </a:r>
            <a:endParaRPr lang="en-IN" dirty="0"/>
          </a:p>
          <a:p>
            <a:pPr>
              <a:defRPr sz="1200" b="0">
                <a:solidFill>
                  <a:srgbClr val="26323F"/>
                </a:solidFill>
                <a:latin typeface="Aptos"/>
              </a:defRPr>
            </a:pP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85800" y="4892040"/>
            <a:ext cx="10789920" cy="640080"/>
          </a:xfrm>
          <a:prstGeom prst="roundRect">
            <a:avLst/>
          </a:prstGeom>
          <a:solidFill>
            <a:srgbClr val="F1F7F9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010912"/>
            <a:ext cx="10424160" cy="366254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100" b="0">
                <a:solidFill>
                  <a:srgbClr val="00708C"/>
                </a:solidFill>
                <a:latin typeface="Aptos"/>
              </a:defRPr>
            </a:pPr>
            <a:r>
              <a:rPr lang="en-IN" sz="1100" dirty="0">
                <a:solidFill>
                  <a:srgbClr val="00708C"/>
                </a:solidFill>
                <a:latin typeface="Aptos"/>
              </a:rPr>
              <a:t>Research Scope: 1 km predictive signal pre-emption, role-based emergency governance, AI queue-density estimation, multi-ambulance triage prioritization, and automated next-of-kin tracing for unidentified trauma victims.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85800" y="5669280"/>
            <a:ext cx="10789920" cy="320040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>
              <a:defRPr sz="1100" b="1">
                <a:solidFill>
                  <a:srgbClr val="EB6B25"/>
                </a:solidFill>
                <a:latin typeface="Aptos"/>
              </a:defRPr>
            </a:pPr>
            <a:r>
              <a:t>Prototype status: simulated-data concept; performance and real-world outcomes remain to be validated.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21106"/>
            <a:ext cx="1143000" cy="520142"/>
          </a:xfrm>
          <a:prstGeom prst="rect">
            <a:avLst/>
          </a:prstGeom>
          <a:noFill/>
        </p:spPr>
        <p:txBody>
          <a:bodyPr wrap="square" lIns="73152" tIns="27432" rIns="73152" bIns="0">
            <a:spAutoFit/>
          </a:bodyPr>
          <a:lstStyle/>
          <a:p>
            <a:pPr algn="l">
              <a:defRPr sz="1000" b="1">
                <a:solidFill>
                  <a:srgbClr val="26323F"/>
                </a:solidFill>
                <a:latin typeface="Aptos"/>
              </a:defRPr>
            </a:pPr>
            <a:r>
              <a:rPr sz="1600" dirty="0"/>
              <a:t>TEAM</a:t>
            </a:r>
            <a:endParaRPr sz="1600" dirty="0"/>
          </a:p>
          <a:p>
            <a:pPr algn="l">
              <a:defRPr sz="1000" b="1">
                <a:solidFill>
                  <a:srgbClr val="26323F"/>
                </a:solidFill>
                <a:latin typeface="Aptos"/>
              </a:defRPr>
            </a:pPr>
            <a:r>
              <a:rPr sz="1600" dirty="0"/>
              <a:t>NEXUS</a:t>
            </a:r>
            <a:endParaRPr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9875</Words>
  <Application>WPS Presentation</Application>
  <PresentationFormat>Widescreen</PresentationFormat>
  <Paragraphs>205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Kumaraguru</cp:lastModifiedBy>
  <cp:revision>4</cp:revision>
  <dcterms:created xsi:type="dcterms:W3CDTF">2013-01-27T09:14:00Z</dcterms:created>
  <dcterms:modified xsi:type="dcterms:W3CDTF">2026-10-27T15:02:14Z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859AF4FFE649403BA229944A63AE7B46_13</vt:lpwstr>
  </property>
  <property fmtid="{D5CDD505-2E9C-101B-9397-08002B2CF9AE}" pid="3" name="KSOProductBuildVer">
    <vt:lpwstr>1033-12.1.0.29162</vt:lpwstr>
  </property>
</Properties>
</file>